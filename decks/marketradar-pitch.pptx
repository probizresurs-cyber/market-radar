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85800" y="3429000"/>
            <a:ext cx="4114800" cy="41148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2743200" cy="27432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0" y="-365760"/>
            <a:ext cx="3474720" cy="347472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14560" y="213360"/>
            <a:ext cx="2316480" cy="2316480"/>
          </a:xfrm>
          <a:prstGeom prst="ellipse">
            <a:avLst/>
          </a:prstGeom>
          <a:solidFill>
            <a:srgbClr val="22D3EE">
              <a:alpha val="2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4480560"/>
            <a:ext cx="2926080" cy="292608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83040" y="4968240"/>
            <a:ext cx="1950720" cy="195072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5029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502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5669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MarketRadar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0" y="640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8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·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0116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MarketRadar</a:t>
            </a:r>
            <a:endParaRPr lang="en-US" sz="9600" dirty="0"/>
          </a:p>
        </p:txBody>
      </p:sp>
      <p:sp>
        <p:nvSpPr>
          <p:cNvPr id="13" name="Text 11"/>
          <p:cNvSpPr/>
          <p:nvPr/>
        </p:nvSpPr>
        <p:spPr>
          <a:xfrm>
            <a:off x="731520" y="3520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ИИ-АНАЛИЗ </a:t>
            </a:r>
            <a:pPr indent="0" marL="0">
              <a:buNone/>
            </a:pPr>
            <a:r>
              <a:rPr lang="en-US" sz="16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КОНКУРЕНТЫ </a:t>
            </a:r>
            <a:pPr indent="0" marL="0">
              <a:buNone/>
            </a:pPr>
            <a:r>
              <a:rPr lang="en-US" sz="16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6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БРЕНД-СТРАТЕГИЯ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SaaS-платформа для конкурентной разведки, контент-маркетинга и бренд-стратегии. Всё, что маркетологу нужно знать о рынке — за 60 секунд.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5486400"/>
            <a:ext cx="3200400" cy="6400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486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marketradar24.ru  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4320" y="2103120"/>
            <a:ext cx="54864" cy="4023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5029200"/>
            <a:ext cx="3657600" cy="36576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68000" y="5638800"/>
            <a:ext cx="2438400" cy="2438400"/>
          </a:xfrm>
          <a:prstGeom prst="ellipse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ПРОБЛЕМА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Ручной анализ рынка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съедает недели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7432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Маркетолог тратит дни на сбор данных из десятков источников. К тому времени, когда отчёт готов, конкуренты уже двинулись дальше.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7640"/>
            <a:ext cx="3657600" cy="21031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977640"/>
            <a:ext cx="73152" cy="21031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2519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4709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3–5</a:t>
            </a:r>
            <a:endParaRPr lang="en-US" sz="5400" dirty="0"/>
          </a:p>
        </p:txBody>
      </p:sp>
      <p:sp>
        <p:nvSpPr>
          <p:cNvPr id="12" name="Text 9"/>
          <p:cNvSpPr/>
          <p:nvPr/>
        </p:nvSpPr>
        <p:spPr>
          <a:xfrm>
            <a:off x="77724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дней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5806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ручной сбор данных по одному конкуренту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89120" y="3977640"/>
            <a:ext cx="3657600" cy="21031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89120" y="3977640"/>
            <a:ext cx="73152" cy="2103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42519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63440" y="4709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12+</a:t>
            </a:r>
            <a:endParaRPr lang="en-US" sz="5400" dirty="0"/>
          </a:p>
        </p:txBody>
      </p:sp>
      <p:sp>
        <p:nvSpPr>
          <p:cNvPr id="18" name="Text 14"/>
          <p:cNvSpPr/>
          <p:nvPr/>
        </p:nvSpPr>
        <p:spPr>
          <a:xfrm>
            <a:off x="466344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источников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663440" y="5806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сайты, соцсети, карты, HH, реестры — всё вручную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275320" y="3977640"/>
            <a:ext cx="3657600" cy="21031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75320" y="3977640"/>
            <a:ext cx="73152" cy="21031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425196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549640" y="4709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0%</a:t>
            </a:r>
            <a:endParaRPr lang="en-US" sz="5400" dirty="0"/>
          </a:p>
        </p:txBody>
      </p:sp>
      <p:sp>
        <p:nvSpPr>
          <p:cNvPr id="24" name="Text 19"/>
          <p:cNvSpPr/>
          <p:nvPr/>
        </p:nvSpPr>
        <p:spPr>
          <a:xfrm>
            <a:off x="8549640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автоматизации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549640" y="5806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мониторинг конкурентов просто не ведётся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marketradar24.ru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02920" y="6355080"/>
            <a:ext cx="11155680" cy="9144"/>
          </a:xfrm>
          <a:prstGeom prst="rect">
            <a:avLst/>
          </a:prstGeom>
          <a:solidFill>
            <a:srgbClr val="2D2D4F"/>
          </a:solidFill>
          <a:ln w="12700">
            <a:solidFill>
              <a:srgbClr val="2D2D4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457200"/>
            <a:ext cx="5486400" cy="5486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61104" y="13716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РЕШЕНИЕ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MarketRadar в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560320" y="1783080"/>
            <a:ext cx="3474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spc="-600" kern="0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60</a:t>
            </a:r>
            <a:endParaRPr lang="en-US" sz="22000" dirty="0"/>
          </a:p>
        </p:txBody>
      </p:sp>
      <p:sp>
        <p:nvSpPr>
          <p:cNvPr id="8" name="Text 6"/>
          <p:cNvSpPr/>
          <p:nvPr/>
        </p:nvSpPr>
        <p:spPr>
          <a:xfrm>
            <a:off x="6035040" y="26060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spc="200" kern="0" dirty="0">
                <a:solidFill>
                  <a:srgbClr val="22D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СЕКУНД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080760" y="35204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URL компании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полного дашборда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4937760"/>
            <a:ext cx="3657600" cy="12344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30368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51389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ИИ-движок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600200" y="5532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анализирует всё целиком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89120" y="4937760"/>
            <a:ext cx="3657600" cy="12344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5230368"/>
            <a:ext cx="640080" cy="6400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86400" y="51389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Реальные данные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5486400" y="5532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HH, DaData, Yandex, 2GIS, Keys.so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275320" y="4937760"/>
            <a:ext cx="3657600" cy="12344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230368"/>
            <a:ext cx="640080" cy="640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72600" y="513892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Автомониторинг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9372600" y="5532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Обновления каждые 30 дней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marketradar24.ru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02920" y="6355080"/>
            <a:ext cx="11155680" cy="9144"/>
          </a:xfrm>
          <a:prstGeom prst="rect">
            <a:avLst/>
          </a:prstGeom>
          <a:solidFill>
            <a:srgbClr val="2D2D4F"/>
          </a:solidFill>
          <a:ln w="12700">
            <a:solidFill>
              <a:srgbClr val="2D2D4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24000" y="-1524000"/>
            <a:ext cx="3048000" cy="3048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75520" y="4572000"/>
            <a:ext cx="4572000" cy="457200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37520" y="5334000"/>
            <a:ext cx="3048000" cy="3048000"/>
          </a:xfrm>
          <a:prstGeom prst="ellipse">
            <a:avLst/>
          </a:prstGeom>
          <a:solidFill>
            <a:srgbClr val="22D3EE">
              <a:alpha val="2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7548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ВОЗМОЖНОСТИ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Шесть модулей — одна платформа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первичного аудита до готовой презентации и видео-рилса — без переключений между инструментами.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3657600" cy="18745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468880"/>
            <a:ext cx="640080" cy="64008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578608"/>
            <a:ext cx="420624" cy="4206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5448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компании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77240" y="3246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Сайт, SEO, соцсети, вакансии, карты, отзывы — единый дашборд.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89120" y="2194560"/>
            <a:ext cx="3657600" cy="18745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2468880"/>
            <a:ext cx="640080" cy="640080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578608"/>
            <a:ext cx="420624" cy="42062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4068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Конкуренты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4663440" y="3246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Сравнительный дашборд, AI-инсайты, парсинг офферов.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275320" y="2194560"/>
            <a:ext cx="3657600" cy="18745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549640" y="2468880"/>
            <a:ext cx="640080" cy="640080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578608"/>
            <a:ext cx="420624" cy="42062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326880" y="2514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Портрет ЦА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549640" y="3246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Сегменты, страхи, мотивы, цитаты — на основе реальных данных.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02920" y="4206240"/>
            <a:ext cx="3657600" cy="18745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77240" y="4480560"/>
            <a:ext cx="640080" cy="64008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590288"/>
            <a:ext cx="420624" cy="4206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4526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СММ + Брендбук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777240" y="5257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Архетип, tone of voice, цвета, шрифты.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4389120" y="4206240"/>
            <a:ext cx="3657600" cy="18745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663440" y="4480560"/>
            <a:ext cx="640080" cy="64008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4590288"/>
            <a:ext cx="420624" cy="42062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440680" y="4526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Контент-завод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4663440" y="5257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Посты, рилсы, сторис, видео-аватары, SEO-статьи.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275320" y="4206240"/>
            <a:ext cx="3657600" cy="18745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549640" y="4480560"/>
            <a:ext cx="640080" cy="640080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368" y="4590288"/>
            <a:ext cx="420624" cy="42062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326880" y="4526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Бренд-презентация</a:t>
            </a:r>
            <a:endParaRPr lang="en-US" sz="1600" dirty="0"/>
          </a:p>
        </p:txBody>
      </p:sp>
      <p:sp>
        <p:nvSpPr>
          <p:cNvPr id="39" name="Text 31"/>
          <p:cNvSpPr/>
          <p:nvPr/>
        </p:nvSpPr>
        <p:spPr>
          <a:xfrm>
            <a:off x="8549640" y="5257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9–14 слайдов из данных анализа → PDF / PPTX.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marketradar24.ru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502920" y="6355080"/>
            <a:ext cx="11155680" cy="9144"/>
          </a:xfrm>
          <a:prstGeom prst="rect">
            <a:avLst/>
          </a:prstGeom>
          <a:solidFill>
            <a:srgbClr val="2D2D4F"/>
          </a:solidFill>
          <a:ln w="12700">
            <a:solidFill>
              <a:srgbClr val="2D2D4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3904" y="4572000"/>
            <a:ext cx="4572000" cy="45720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65904" y="5334000"/>
            <a:ext cx="3048000" cy="304800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КАК ЭТО РАБОТАЕТ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Три шага. Никаких брифов.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вводит URL — платформа делает остальное.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60520" y="4160520"/>
            <a:ext cx="228600" cy="36576"/>
          </a:xfrm>
          <a:prstGeom prst="rect">
            <a:avLst/>
          </a:prstGeom>
          <a:solidFill>
            <a:srgbClr val="2D2D4F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40280"/>
            <a:ext cx="3657600" cy="37033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231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9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2606040"/>
            <a:ext cx="502920" cy="5029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7240" y="4023360"/>
            <a:ext cx="9144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 URL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7240" y="4754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Укажите сайт — система сама определит нишу, название компании и ключевых конкурентов.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46720" y="4160520"/>
            <a:ext cx="228600" cy="36576"/>
          </a:xfrm>
          <a:prstGeom prst="rect">
            <a:avLst/>
          </a:prstGeom>
          <a:solidFill>
            <a:srgbClr val="2D2D4F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89120" y="2240280"/>
            <a:ext cx="3657600" cy="37033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17720" y="24231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22D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96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606040"/>
            <a:ext cx="502920" cy="5029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663440" y="4023360"/>
            <a:ext cx="914400" cy="274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6344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Claude AI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4663440" y="4754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Парсим сайт, соцсети, карты, вакансии. Обогащаем данными HH, DaData, Keys.so, 2GIS.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275320" y="2240280"/>
            <a:ext cx="3657600" cy="37033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503920" y="242316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6366F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96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2606040"/>
            <a:ext cx="502920" cy="50292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8549640" y="4023360"/>
            <a:ext cx="914400" cy="274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54964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дашборд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8549640" y="4754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Оценки, сравнения, ЦА, СММ-стратегия, брендбук, посты и презентация — всё сразу.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marketradar24.ru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502920" y="6355080"/>
            <a:ext cx="11155680" cy="9144"/>
          </a:xfrm>
          <a:prstGeom prst="rect">
            <a:avLst/>
          </a:prstGeom>
          <a:solidFill>
            <a:srgbClr val="2D2D4F"/>
          </a:solidFill>
          <a:ln w="12700">
            <a:solidFill>
              <a:srgbClr val="2D2D4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19200" y="2133600"/>
            <a:ext cx="3048000" cy="3048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ИИ-ДВИЖОК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Под капотом — Claude AI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claude-sonnet-4-6 от Anthropic, дополненная реальными источниками данных и доменной экспертизой.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5120640" cy="39319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14600"/>
            <a:ext cx="73152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Claude</a:t>
            </a:r>
            <a:endParaRPr lang="en-US" sz="2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Sonnet 4.6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777240" y="3520440"/>
            <a:ext cx="4572000" cy="18288"/>
          </a:xfrm>
          <a:prstGeom prst="rect">
            <a:avLst/>
          </a:prstGeom>
          <a:solidFill>
            <a:srgbClr val="2D2D4F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7033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200K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14884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токенов контекста — видит весь сайт целиком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44805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10K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2148840" y="45720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токенов на ответ — глубокая аналитика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77240" y="5257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D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RU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2148840" y="5349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нативная работа с русским языком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2331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АНАЛИЗИРУЕТ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880360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309360" y="2788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Позиционирование и УТП компании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657600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09360" y="3566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SEO-видимость и ключевые запросы</a:t>
            </a:r>
            <a:endParaRPr lang="en-US" sz="12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43484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09360" y="4343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Социальные сети и контент-стратегию</a:t>
            </a:r>
            <a:endParaRPr lang="en-US" sz="12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5212080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09360" y="5120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Вакансии и скорость найма</a:t>
            </a:r>
            <a:endParaRPr lang="en-US" sz="12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3960" y="2880360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9189720" y="2788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на Google, Yandex, 2GIS</a:t>
            </a:r>
            <a:endParaRPr lang="en-US" sz="12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3960" y="3657600"/>
            <a:ext cx="256032" cy="25603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189720" y="3566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Офферы конкурентов и ценовую политику</a:t>
            </a:r>
            <a:endParaRPr lang="en-US" sz="12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3960" y="4434840"/>
            <a:ext cx="256032" cy="25603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189720" y="4343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Архетип бренда и tone of voice</a:t>
            </a:r>
            <a:endParaRPr lang="en-US" sz="12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3960" y="5212080"/>
            <a:ext cx="256032" cy="25603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9189720" y="51206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 роста и точки кратного масштаба</a:t>
            </a:r>
            <a:endParaRPr lang="en-US" sz="1200" dirty="0"/>
          </a:p>
        </p:txBody>
      </p:sp>
      <p:sp>
        <p:nvSpPr>
          <p:cNvPr id="35" name="Text 24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  <p:sp>
        <p:nvSpPr>
          <p:cNvPr id="36" name="Text 25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marketradar24.ru</a:t>
            </a:r>
            <a:endParaRPr lang="en-US" sz="1000" dirty="0"/>
          </a:p>
        </p:txBody>
      </p:sp>
      <p:sp>
        <p:nvSpPr>
          <p:cNvPr id="37" name="Shape 26"/>
          <p:cNvSpPr/>
          <p:nvPr/>
        </p:nvSpPr>
        <p:spPr>
          <a:xfrm>
            <a:off x="502920" y="6355080"/>
            <a:ext cx="11155680" cy="9144"/>
          </a:xfrm>
          <a:prstGeom prst="rect">
            <a:avLst/>
          </a:prstGeom>
          <a:solidFill>
            <a:srgbClr val="2D2D4F"/>
          </a:solidFill>
          <a:ln w="12700">
            <a:solidFill>
              <a:srgbClr val="2D2D4F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-2057400"/>
            <a:ext cx="4114800" cy="411480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0" y="-1371600"/>
            <a:ext cx="2743200" cy="2743200"/>
          </a:xfrm>
          <a:prstGeom prst="ellipse">
            <a:avLst/>
          </a:prstGeom>
          <a:solidFill>
            <a:srgbClr val="22D3EE">
              <a:alpha val="2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ИСТОЧНИКИ ДАННЫХ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Не галлюцинации ИИ —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реальные данные РФ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утверждение в отчёте опирается на живой источник — официальные API и каталоги.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2697480" cy="14630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246120"/>
            <a:ext cx="502920" cy="502920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3328416"/>
            <a:ext cx="338328" cy="338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HH.ru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31520" y="3886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Вакансии, темпы найма, зарплаты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83280" y="3017520"/>
            <a:ext cx="2697480" cy="14630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11880" y="3246120"/>
            <a:ext cx="502920" cy="502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3328416"/>
            <a:ext cx="338328" cy="3383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DaData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611880" y="3886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Реестр компаний, ИНН, ОГРН, руководители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63640" y="3017520"/>
            <a:ext cx="2697480" cy="14630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92240" y="3246120"/>
            <a:ext cx="502920" cy="50292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3328416"/>
            <a:ext cx="338328" cy="3383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3232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Yandex Maps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92240" y="3886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Рейтинги и отзывы на Яндекс.Картах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144000" y="3017520"/>
            <a:ext cx="2697480" cy="14630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72600" y="3246120"/>
            <a:ext cx="502920" cy="502920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3328416"/>
            <a:ext cx="338328" cy="3383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1268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2GIS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9372600" y="3886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Каталог, рейтинги и отзывы 2GIS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02920" y="4663440"/>
            <a:ext cx="2697480" cy="14630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31520" y="4892040"/>
            <a:ext cx="502920" cy="502920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4974336"/>
            <a:ext cx="338328" cy="33832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71600" y="4846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Keys.so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731520" y="55321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запросы, SEO-видимость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3383280" y="4663440"/>
            <a:ext cx="2697480" cy="14630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611880" y="4892040"/>
            <a:ext cx="502920" cy="502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4176" y="4974336"/>
            <a:ext cx="338328" cy="33832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251960" y="4846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PageSpeed</a:t>
            </a:r>
            <a:endParaRPr lang="en-US" sz="1500" dirty="0"/>
          </a:p>
        </p:txBody>
      </p:sp>
      <p:sp>
        <p:nvSpPr>
          <p:cNvPr id="37" name="Text 29"/>
          <p:cNvSpPr/>
          <p:nvPr/>
        </p:nvSpPr>
        <p:spPr>
          <a:xfrm>
            <a:off x="3611880" y="55321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Web Vitals и производительность сайта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6263640" y="4663440"/>
            <a:ext cx="2697480" cy="14630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492240" y="4892040"/>
            <a:ext cx="502920" cy="50292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4974336"/>
            <a:ext cx="338328" cy="33832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132320" y="4846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</a:t>
            </a:r>
            <a:endParaRPr lang="en-US" sz="1500" dirty="0"/>
          </a:p>
        </p:txBody>
      </p:sp>
      <p:sp>
        <p:nvSpPr>
          <p:cNvPr id="42" name="Text 33"/>
          <p:cNvSpPr/>
          <p:nvPr/>
        </p:nvSpPr>
        <p:spPr>
          <a:xfrm>
            <a:off x="6492240" y="55321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Рейтинги и отзывы Google Business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9144000" y="4663440"/>
            <a:ext cx="2697480" cy="14630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9372600" y="4892040"/>
            <a:ext cx="502920" cy="502920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4896" y="4974336"/>
            <a:ext cx="338328" cy="33832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10012680" y="4846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API</a:t>
            </a:r>
            <a:endParaRPr lang="en-US" sz="1500" dirty="0"/>
          </a:p>
        </p:txBody>
      </p:sp>
      <p:sp>
        <p:nvSpPr>
          <p:cNvPr id="47" name="Text 37"/>
          <p:cNvSpPr/>
          <p:nvPr/>
        </p:nvSpPr>
        <p:spPr>
          <a:xfrm>
            <a:off x="9372600" y="55321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и автоматические дайджесты</a:t>
            </a:r>
            <a:endParaRPr lang="en-US" sz="1050" dirty="0"/>
          </a:p>
        </p:txBody>
      </p:sp>
      <p:sp>
        <p:nvSpPr>
          <p:cNvPr id="48" name="Text 38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  <p:sp>
        <p:nvSpPr>
          <p:cNvPr id="49" name="Text 39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marketradar24.ru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502920" y="6355080"/>
            <a:ext cx="11155680" cy="9144"/>
          </a:xfrm>
          <a:prstGeom prst="rect">
            <a:avLst/>
          </a:prstGeom>
          <a:solidFill>
            <a:srgbClr val="2D2D4F"/>
          </a:solidFill>
          <a:ln w="12700">
            <a:solidFill>
              <a:srgbClr val="2D2D4F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4800600"/>
            <a:ext cx="4114800" cy="411480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5486400"/>
            <a:ext cx="2743200" cy="2743200"/>
          </a:xfrm>
          <a:prstGeom prst="ellipse">
            <a:avLst/>
          </a:prstGeom>
          <a:solidFill>
            <a:srgbClr val="EC4899">
              <a:alpha val="25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28600"/>
            <a:ext cx="3200400" cy="3200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06000" y="762000"/>
            <a:ext cx="2133600" cy="21336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7548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КОНТЕНТ-ЗАВОД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868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От стратегии —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к готовому контенту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AI-фабрика превращает дашборд в публикации, пригодные к запуску — тексты, видео, сценарии.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868680"/>
            <a:ext cx="3337560" cy="1920240"/>
          </a:xfrm>
          <a:prstGeom prst="rect">
            <a:avLst/>
          </a:prstGeom>
          <a:solidFill>
            <a:srgbClr val="26264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896112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22D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100+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8503920" y="1965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единиц контента в месяц на одном аккаунте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108960"/>
            <a:ext cx="3566160" cy="14630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38328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71600" y="3337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Посты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77240" y="3931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текстов с tone of voice и проверкой ToV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297680" y="3108960"/>
            <a:ext cx="3566160" cy="14630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38328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66360" y="3337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Рилсы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572000" y="3931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Сценарии, хуки, CTA — готовы к съёмке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092440" y="3108960"/>
            <a:ext cx="3566160" cy="14630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33832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61120" y="33375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Сторис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366760" y="39319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Серии сторис на неделю с темами и подписями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02920" y="4709160"/>
            <a:ext cx="3566160" cy="14630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8348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71600" y="4937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Видео-аватар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77240" y="5532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видео через HeyGen с вашим лицом и голосом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297680" y="4709160"/>
            <a:ext cx="3566160" cy="14630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983480"/>
            <a:ext cx="457200" cy="4572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66360" y="4937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SEO-статьи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4572000" y="5532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Длинные формы под ключевые запросы из Keys.so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8092440" y="4709160"/>
            <a:ext cx="3566160" cy="146304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983480"/>
            <a:ext cx="457200" cy="4572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961120" y="49377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Journey</a:t>
            </a:r>
            <a:endParaRPr lang="en-US" sz="1500" dirty="0"/>
          </a:p>
        </p:txBody>
      </p:sp>
      <p:sp>
        <p:nvSpPr>
          <p:cNvPr id="36" name="Text 28"/>
          <p:cNvSpPr/>
          <p:nvPr/>
        </p:nvSpPr>
        <p:spPr>
          <a:xfrm>
            <a:off x="8366760" y="55321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пути клиента и точки касания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marketradar24.ru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02920" y="6355080"/>
            <a:ext cx="11155680" cy="9144"/>
          </a:xfrm>
          <a:prstGeom prst="rect">
            <a:avLst/>
          </a:prstGeom>
          <a:solidFill>
            <a:srgbClr val="2D2D4F"/>
          </a:solidFill>
          <a:ln w="12700">
            <a:solidFill>
              <a:srgbClr val="2D2D4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46704" y="457200"/>
            <a:ext cx="5486400" cy="5486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61104" y="13716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ТРАКШН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Рынок, который ждёт автоматизации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Конкурентная разведка в РФ — ниша без крупных игроков. Мы первыми соединяем Claude AI с локальными источниками.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2697480" cy="21031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86000"/>
            <a:ext cx="2697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060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-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60×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580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быстрее ручного аудита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2286000"/>
            <a:ext cx="2697480" cy="21031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2286000"/>
            <a:ext cx="269748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6060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-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12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356616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интеграций с API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2286000"/>
            <a:ext cx="2697480" cy="21031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286000"/>
            <a:ext cx="2697480" cy="7315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6060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-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30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644652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дней автомониторинга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0" y="2286000"/>
            <a:ext cx="2697480" cy="210312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0" y="2286000"/>
            <a:ext cx="269748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0" y="260604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-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9–14</a:t>
            </a:r>
            <a:endParaRPr lang="en-US" sz="7200" dirty="0"/>
          </a:p>
        </p:txBody>
      </p:sp>
      <p:sp>
        <p:nvSpPr>
          <p:cNvPr id="23" name="Text 21"/>
          <p:cNvSpPr/>
          <p:nvPr/>
        </p:nvSpPr>
        <p:spPr>
          <a:xfrm>
            <a:off x="9326880" y="38404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spc="2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слайдов в готовой презентации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572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КОГО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983480"/>
            <a:ext cx="2697480" cy="1051560"/>
          </a:xfrm>
          <a:prstGeom prst="rect">
            <a:avLst/>
          </a:prstGeom>
          <a:solidFill>
            <a:srgbClr val="16162C"/>
          </a:solidFill>
          <a:ln w="12700">
            <a:solidFill>
              <a:srgbClr val="2D2D4F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257800"/>
            <a:ext cx="502920" cy="5029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417320" y="49834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Маркетинговые агентства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383280" y="4983480"/>
            <a:ext cx="2697480" cy="1051560"/>
          </a:xfrm>
          <a:prstGeom prst="rect">
            <a:avLst/>
          </a:prstGeom>
          <a:solidFill>
            <a:srgbClr val="16162C"/>
          </a:solidFill>
          <a:ln w="12700">
            <a:solidFill>
              <a:srgbClr val="2D2D4F"/>
            </a:solidFill>
            <a:prstDash val="solid"/>
          </a:ln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5257800"/>
            <a:ext cx="502920" cy="5029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4297680" y="49834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Бренд-менеджеры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6263640" y="4983480"/>
            <a:ext cx="2697480" cy="1051560"/>
          </a:xfrm>
          <a:prstGeom prst="rect">
            <a:avLst/>
          </a:prstGeom>
          <a:solidFill>
            <a:srgbClr val="16162C"/>
          </a:solidFill>
          <a:ln w="12700">
            <a:solidFill>
              <a:srgbClr val="2D2D4F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5257800"/>
            <a:ext cx="502920" cy="5029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7178040" y="49834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Малый и средний бизнес РФ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9144000" y="4983480"/>
            <a:ext cx="2697480" cy="1051560"/>
          </a:xfrm>
          <a:prstGeom prst="rect">
            <a:avLst/>
          </a:prstGeom>
          <a:solidFill>
            <a:srgbClr val="16162C"/>
          </a:solidFill>
          <a:ln w="12700">
            <a:solidFill>
              <a:srgbClr val="2D2D4F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5257800"/>
            <a:ext cx="502920" cy="5029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0058400" y="498348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Интеграторы и консультанты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marketradar24.ru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502920" y="6355080"/>
            <a:ext cx="11155680" cy="9144"/>
          </a:xfrm>
          <a:prstGeom prst="rect">
            <a:avLst/>
          </a:prstGeom>
          <a:solidFill>
            <a:srgbClr val="2D2D4F"/>
          </a:solidFill>
          <a:ln w="12700">
            <a:solidFill>
              <a:srgbClr val="2D2D4F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04120" y="4800600"/>
            <a:ext cx="4114800" cy="41148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789920" y="5486400"/>
            <a:ext cx="2743200" cy="27432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ЭКОНОМИКА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SaaS по подписке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+ партнёрская программа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5303520" cy="3657600"/>
          </a:xfrm>
          <a:prstGeom prst="rect">
            <a:avLst/>
          </a:prstGeom>
          <a:solidFill>
            <a:srgbClr val="26264A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ПОДПИСКА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MarketRadar Pro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доступ ко всем модулям, автомониторинг, интеграции с API источников данных, Telegram-уведомления.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663440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Безлимитный анализ компаний и конкурентов</a:t>
            </a:r>
            <a:endParaRPr lang="en-US" sz="11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1091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7280" y="4965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Контент-завод: посты, рилсы, сторис, видео</a:t>
            </a:r>
            <a:endParaRPr lang="en-US" sz="11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58384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" y="53126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Брендбук + бренд-презентация (PDF/PPTX)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05856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97280" y="56601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Автообновление дашборда каждые 30 дней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6172200" y="2514600"/>
            <a:ext cx="5486400" cy="173736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72200" y="2514600"/>
            <a:ext cx="91440" cy="17373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69748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86600" y="2670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ПАРТНЁРСКАЯ ПРОГРАММА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7086600" y="29718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20% комиссии</a:t>
            </a:r>
            <a:endParaRPr lang="en-US" sz="2400" dirty="0"/>
          </a:p>
        </p:txBody>
      </p:sp>
      <p:sp>
        <p:nvSpPr>
          <p:cNvPr id="24" name="Text 17"/>
          <p:cNvSpPr/>
          <p:nvPr/>
        </p:nvSpPr>
        <p:spPr>
          <a:xfrm>
            <a:off x="6446520" y="35204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Реферальная комиссия с каждого клиента + 10% скидка для приглашённых.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172200" y="4434840"/>
            <a:ext cx="5486400" cy="173736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172200" y="4434840"/>
            <a:ext cx="91440" cy="173736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617720"/>
            <a:ext cx="502920" cy="5029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86600" y="45902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ИНТЕГРАТОРА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7086600" y="4892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до 50% комиссии</a:t>
            </a:r>
            <a:endParaRPr lang="en-US" sz="2400" dirty="0"/>
          </a:p>
        </p:txBody>
      </p:sp>
      <p:sp>
        <p:nvSpPr>
          <p:cNvPr id="30" name="Text 22"/>
          <p:cNvSpPr/>
          <p:nvPr/>
        </p:nvSpPr>
        <p:spPr>
          <a:xfrm>
            <a:off x="6446520" y="54406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агентств и студий, продающих MarketRadar как услугу под своим брендом.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marketradar24.ru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502920" y="6355080"/>
            <a:ext cx="11155680" cy="9144"/>
          </a:xfrm>
          <a:prstGeom prst="rect">
            <a:avLst/>
          </a:prstGeom>
          <a:solidFill>
            <a:srgbClr val="2D2D4F"/>
          </a:solidFill>
          <a:ln w="12700">
            <a:solidFill>
              <a:srgbClr val="2D2D4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4572000" cy="457200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524000" y="-1524000"/>
            <a:ext cx="3048000" cy="3048000"/>
          </a:xfrm>
          <a:prstGeom prst="ellipse">
            <a:avLst/>
          </a:prstGeom>
          <a:solidFill>
            <a:srgbClr val="22D3EE">
              <a:alpha val="2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75488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ТЕХНОЛОГИИ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Production-grade стек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с первого дня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Современные технологии, собственный VPS в Москве, независимость от внешних площадок.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2697480" cy="150876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3191256"/>
            <a:ext cx="338328" cy="338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31520" y="3749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React 19, SSR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83280" y="2880360"/>
            <a:ext cx="2697480" cy="150876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11880" y="3108960"/>
            <a:ext cx="502920" cy="502920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176" y="3191256"/>
            <a:ext cx="338328" cy="3383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25196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611880" y="3749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4.6 + резерв GPT-4o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63640" y="2880360"/>
            <a:ext cx="2697480" cy="150876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492240" y="3108960"/>
            <a:ext cx="502920" cy="502920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3191256"/>
            <a:ext cx="338328" cy="33832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3232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92240" y="3749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Надёжное хранение данных клиентов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144000" y="2880360"/>
            <a:ext cx="2697480" cy="150876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372600" y="3108960"/>
            <a:ext cx="502920" cy="50292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896" y="3191256"/>
            <a:ext cx="338328" cy="3383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01268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VPS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9372600" y="37490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Собственные серверы · PM2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02920" y="4572000"/>
            <a:ext cx="2697480" cy="150876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31520" y="4800600"/>
            <a:ext cx="502920" cy="502920"/>
          </a:xfrm>
          <a:prstGeom prst="ellipse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4882896"/>
            <a:ext cx="338328" cy="33832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71600" y="4754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731520" y="5440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Worker-прокси для Anthropic API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3383280" y="4572000"/>
            <a:ext cx="2697480" cy="150876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3611880" y="4800600"/>
            <a:ext cx="502920" cy="502920"/>
          </a:xfrm>
          <a:prstGeom prst="ellipse">
            <a:avLst/>
          </a:prstGeom>
          <a:solidFill>
            <a:srgbClr val="22D3EE">
              <a:alpha val="30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4176" y="4882896"/>
            <a:ext cx="338328" cy="33832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251960" y="4754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152-ФЗ</a:t>
            </a:r>
            <a:endParaRPr lang="en-US" sz="1400" dirty="0"/>
          </a:p>
        </p:txBody>
      </p:sp>
      <p:sp>
        <p:nvSpPr>
          <p:cNvPr id="37" name="Text 29"/>
          <p:cNvSpPr/>
          <p:nvPr/>
        </p:nvSpPr>
        <p:spPr>
          <a:xfrm>
            <a:off x="3611880" y="5440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закону о персданных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6263640" y="4572000"/>
            <a:ext cx="2697480" cy="150876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6492240" y="4800600"/>
            <a:ext cx="502920" cy="502920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4882896"/>
            <a:ext cx="338328" cy="33832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7132320" y="4754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400" dirty="0"/>
          </a:p>
        </p:txBody>
      </p:sp>
      <p:sp>
        <p:nvSpPr>
          <p:cNvPr id="42" name="Text 33"/>
          <p:cNvSpPr/>
          <p:nvPr/>
        </p:nvSpPr>
        <p:spPr>
          <a:xfrm>
            <a:off x="6492240" y="5440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Уведомления, отчёты, воронка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9144000" y="4572000"/>
            <a:ext cx="2697480" cy="1508760"/>
          </a:xfrm>
          <a:prstGeom prst="rect">
            <a:avLst/>
          </a:prstGeom>
          <a:solidFill>
            <a:srgbClr val="1E1E38"/>
          </a:solidFill>
          <a:ln w="12700">
            <a:solidFill>
              <a:srgbClr val="2D2D4F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9372600" y="4800600"/>
            <a:ext cx="502920" cy="50292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4896" y="4882896"/>
            <a:ext cx="338328" cy="33832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10012680" y="4754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</a:t>
            </a:r>
            <a:endParaRPr lang="en-US" sz="1400" dirty="0"/>
          </a:p>
        </p:txBody>
      </p:sp>
      <p:sp>
        <p:nvSpPr>
          <p:cNvPr id="47" name="Text 37"/>
          <p:cNvSpPr/>
          <p:nvPr/>
        </p:nvSpPr>
        <p:spPr>
          <a:xfrm>
            <a:off x="9372600" y="544068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Видео-аватары премиум-класса</a:t>
            </a:r>
            <a:endParaRPr lang="en-US" sz="1050" dirty="0"/>
          </a:p>
        </p:txBody>
      </p:sp>
      <p:sp>
        <p:nvSpPr>
          <p:cNvPr id="48" name="Text 38"/>
          <p:cNvSpPr/>
          <p:nvPr/>
        </p:nvSpPr>
        <p:spPr>
          <a:xfrm>
            <a:off x="10972800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49" name="Text 39"/>
          <p:cNvSpPr/>
          <p:nvPr/>
        </p:nvSpPr>
        <p:spPr>
          <a:xfrm>
            <a:off x="502920" y="6446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marketradar24.ru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502920" y="6355080"/>
            <a:ext cx="11155680" cy="9144"/>
          </a:xfrm>
          <a:prstGeom prst="rect">
            <a:avLst/>
          </a:prstGeom>
          <a:solidFill>
            <a:srgbClr val="2D2D4F"/>
          </a:solidFill>
          <a:ln w="12700">
            <a:solidFill>
              <a:srgbClr val="2D2D4F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5486400" cy="54864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1371600"/>
            <a:ext cx="4572000" cy="4572000"/>
          </a:xfrm>
          <a:prstGeom prst="ellipse">
            <a:avLst/>
          </a:prstGeom>
          <a:solidFill>
            <a:srgbClr val="22D3EE">
              <a:alpha val="1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34400" y="-609600"/>
            <a:ext cx="3048000" cy="3048000"/>
          </a:xfrm>
          <a:prstGeom prst="ellipse">
            <a:avLst/>
          </a:prstGeom>
          <a:solidFill>
            <a:srgbClr val="22D3EE">
              <a:alpha val="2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61104" y="1600200"/>
            <a:ext cx="3657600" cy="3657600"/>
          </a:xfrm>
          <a:prstGeom prst="ellipse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70704" y="2209800"/>
            <a:ext cx="2438400" cy="243840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71600"/>
            <a:ext cx="54864" cy="4114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 · БЕЗ КАРТЫ · 14 ДНЕЙ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600200"/>
            <a:ext cx="10972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0" b="1" spc="-3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Попробуйте</a:t>
            </a:r>
            <a:endParaRPr lang="en-US" sz="11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000" b="1" spc="-3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бесплатно.</a:t>
            </a:r>
            <a:endParaRPr lang="en-US" sz="11000" dirty="0"/>
          </a:p>
        </p:txBody>
      </p:sp>
      <p:sp>
        <p:nvSpPr>
          <p:cNvPr id="11" name="Text 9"/>
          <p:cNvSpPr/>
          <p:nvPr/>
        </p:nvSpPr>
        <p:spPr>
          <a:xfrm>
            <a:off x="502920" y="45720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за минуту — и платформа сама проанализирует вашу компанию и конкурентов.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2920" y="5440680"/>
            <a:ext cx="3840480" cy="7315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54406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marketradar24.ru  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0" y="5532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probizresurs@gmail.com</a:t>
            </a:r>
            <a:endParaRPr lang="en-US" sz="13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5897880"/>
            <a:ext cx="228600" cy="228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846320" y="5870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Напишите нам для демо или партнёрства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0881360" y="571500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881360" y="5715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MR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MarketRadar — ИИ-анализ конкурентов и бренд-стратегия</dc:title>
  <dc:subject>PptxGenJS Presentation</dc:subject>
  <dc:creator>MarketRadar</dc:creator>
  <cp:lastModifiedBy>MarketRadar</cp:lastModifiedBy>
  <cp:revision>1</cp:revision>
  <dcterms:created xsi:type="dcterms:W3CDTF">2026-04-23T11:03:52Z</dcterms:created>
  <dcterms:modified xsi:type="dcterms:W3CDTF">2026-04-23T11:03:52Z</dcterms:modified>
</cp:coreProperties>
</file>