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B8B8D0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Окт</c:v>
                  </c:pt>
                  <c:pt idx="1">
                    <c:v>Ноя</c:v>
                  </c:pt>
                  <c:pt idx="2">
                    <c:v>Дек</c:v>
                  </c:pt>
                  <c:pt idx="3">
                    <c:v>Янв</c:v>
                  </c:pt>
                  <c:pt idx="4">
                    <c:v>Фев</c:v>
                  </c:pt>
                  <c:pt idx="5">
                    <c:v>Мар</c:v>
                  </c:pt>
                  <c:pt idx="6">
                    <c:v>Апр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42</c:v>
                </c:pt>
                <c:pt idx="2">
                  <c:v>75</c:v>
                </c:pt>
                <c:pt idx="3">
                  <c:v>112</c:v>
                </c:pt>
                <c:pt idx="4">
                  <c:v>160</c:v>
                </c:pt>
                <c:pt idx="5">
                  <c:v>215</c:v>
                </c:pt>
                <c:pt idx="6">
                  <c:v>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B8B8D0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8D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A95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695" y="-1828800"/>
            <a:ext cx="6400800" cy="6400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1295" y="41148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71455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9525">
            <a:solidFill>
              <a:srgbClr val="2A2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71455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·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26771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COMPETITIVE INTELLIGENCE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96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13716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3977640"/>
            <a:ext cx="73152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ИИ-анализ конкурентов и бренд-стратегия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SaaS-платформа для маркетинговых агентств и брендов России. От анализа конкурентов до готового контент-плана — за 60 секунд.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ОСНОВАНИЕ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6144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9456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94560" y="6144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Россия · СНГ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5943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6144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Revenue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Конкурентная разведка занимает дни, а не минуты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Маркетологи тратят недели на ручной сбор данных — и всё равно получают устаревшую картину рынка.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45429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26080"/>
            <a:ext cx="345429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8328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</a:t>
            </a:r>
            <a:pPr indent="0" marL="0">
              <a:buNone/>
            </a:pPr>
            <a:r>
              <a:rPr lang="en-US" sz="22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часа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ручной анализ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аналитик тратит неделю на исследование 5 конкурентов — сайт, соцсети, SEO, вакансии.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8698" y="2926080"/>
            <a:ext cx="345429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8698" y="2926080"/>
            <a:ext cx="3454298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4458" y="338328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15+</a:t>
            </a:r>
            <a:pPr indent="0" marL="0">
              <a:buNone/>
            </a:pPr>
            <a:r>
              <a:rPr lang="en-US" sz="22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источников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4734458" y="48463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Разрозненные данные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34458" y="530352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HH.ru, карты, соцсети, отзывы, реквизиты — все живут в разных вкладках и таблицах.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97317" y="2926080"/>
            <a:ext cx="345429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7317" y="2926080"/>
            <a:ext cx="3454298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63077" y="3383280"/>
            <a:ext cx="2722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0%</a:t>
            </a:r>
            <a:pPr indent="0" marL="0">
              <a:buNone/>
            </a:pPr>
            <a:r>
              <a:rPr lang="en-US" sz="22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8400" dirty="0"/>
          </a:p>
        </p:txBody>
      </p:sp>
      <p:sp>
        <p:nvSpPr>
          <p:cNvPr id="25" name="Text 23"/>
          <p:cNvSpPr/>
          <p:nvPr/>
        </p:nvSpPr>
        <p:spPr>
          <a:xfrm>
            <a:off x="8463077" y="48463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Обновления в реальном времени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63077" y="530352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моменту презентации клиенту отчёт уже устарел. Рынок меняется еженедельно.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 за 60 секунд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402336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секунд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ввода URL до готового отчёта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4693615" cy="1051560"/>
          </a:xfrm>
          <a:prstGeom prst="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331720"/>
            <a:ext cx="73152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532888"/>
            <a:ext cx="868680" cy="320040"/>
          </a:xfrm>
          <a:prstGeom prst="roundRect">
            <a:avLst>
              <a:gd name="adj" fmla="val 48571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5328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289864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URL компании или название бренда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566160"/>
            <a:ext cx="4693615" cy="1051560"/>
          </a:xfrm>
          <a:prstGeom prst="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566160"/>
            <a:ext cx="73152" cy="105156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3767328"/>
            <a:ext cx="868680" cy="320040"/>
          </a:xfrm>
          <a:prstGeom prst="roundRect">
            <a:avLst>
              <a:gd name="adj" fmla="val 48571"/>
            </a:avLst>
          </a:prstGeom>
          <a:solidFill>
            <a:srgbClr val="6366F1">
              <a:alpha val="2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76732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413308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анализирует 50+ источников данных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4800600"/>
            <a:ext cx="4693615" cy="1051560"/>
          </a:xfrm>
          <a:prstGeom prst="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4800600"/>
            <a:ext cx="73152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5001768"/>
            <a:ext cx="868680" cy="320040"/>
          </a:xfrm>
          <a:prstGeom prst="roundRect">
            <a:avLst>
              <a:gd name="adj" fmla="val 48571"/>
            </a:avLst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500176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5367528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Дашборд, портрет ЦА, план контента, презентация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ВОЗМОЖНОСТИ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модулей. Одна платформа.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цикл — от разведки до готовой презентации клиенту.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06324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20040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7947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конкурентов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60120" y="425196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Сайт, SEO, соцсети, вакансии, карты, отзывы — всё в одном дашборде.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53458" y="274320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73498" y="306324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320040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73498" y="37947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Портрет ЦА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673498" y="425196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Сегменты, страхи, мотивы, возражения, цитаты — на основе реальных данных.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066837" y="274320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386877" y="306324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320040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86877" y="37947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СММ-стратегия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386877" y="425196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Архетип бренда, площадки, частотность, tone of voice, примеры постов.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0080" y="459486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60120" y="491490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05206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0120" y="56464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Контент-завод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60120" y="610362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Посты, Reels, Stories, сценарии, видео с аватаром — под вашу ЦА.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353458" y="459486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73498" y="491490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658" y="50520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673498" y="56464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Брендбук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4673498" y="610362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Цвета, шрифты, тон голоса — с AI-рекомендациями из анализа ЦА.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066837" y="4594860"/>
            <a:ext cx="3484778" cy="1623060"/>
          </a:xfrm>
          <a:prstGeom prst="rect">
            <a:avLst>
              <a:gd name="adj" fmla="val 6761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386877" y="4914900"/>
            <a:ext cx="594360" cy="594360"/>
          </a:xfrm>
          <a:prstGeom prst="ellipse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505206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86877" y="56464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Презентации &amp; PDF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8386877" y="6103620"/>
            <a:ext cx="2844698" cy="-2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9–14 слайдов с вашим брендом. Экспорт в .pptx и PDF одной кнопкой.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ЭТО РАБОТАЕТ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шага до готового отчёта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39333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2661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600" dirty="0"/>
          </a:p>
        </p:txBody>
      </p:sp>
      <p:sp>
        <p:nvSpPr>
          <p:cNvPr id="13" name="Shape 11"/>
          <p:cNvSpPr/>
          <p:nvPr/>
        </p:nvSpPr>
        <p:spPr>
          <a:xfrm>
            <a:off x="1005840" y="461772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8006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Укажите компанию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сайта, название бренда или ссылка на соцсеть. Можно добавить до 10 конкурентов вручную.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994" y="4297680"/>
            <a:ext cx="274320" cy="274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399178" y="2834640"/>
            <a:ext cx="339333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64938" y="3108960"/>
            <a:ext cx="2661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600" dirty="0"/>
          </a:p>
        </p:txBody>
      </p:sp>
      <p:sp>
        <p:nvSpPr>
          <p:cNvPr id="19" name="Shape 16"/>
          <p:cNvSpPr/>
          <p:nvPr/>
        </p:nvSpPr>
        <p:spPr>
          <a:xfrm>
            <a:off x="4764938" y="461772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64938" y="48006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запускает анализ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64938" y="53035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параллельно парсит сайт, подтягивает данные из HH.ru, DaData, карт и SEO-сервисов.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093" y="4297680"/>
            <a:ext cx="274320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58277" y="2834640"/>
            <a:ext cx="3393338" cy="3200400"/>
          </a:xfrm>
          <a:prstGeom prst="rect">
            <a:avLst>
              <a:gd name="adj" fmla="val 3429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24037" y="3108960"/>
            <a:ext cx="2661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600" dirty="0"/>
          </a:p>
        </p:txBody>
      </p:sp>
      <p:sp>
        <p:nvSpPr>
          <p:cNvPr id="25" name="Shape 21"/>
          <p:cNvSpPr/>
          <p:nvPr/>
        </p:nvSpPr>
        <p:spPr>
          <a:xfrm>
            <a:off x="8524037" y="4617720"/>
            <a:ext cx="548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24037" y="48006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Получите отчёт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524037" y="5303520"/>
            <a:ext cx="2661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Интерактивный дашборд + готовая презентация. Экспорт в PDF/PPTX. Мониторинг раз в 30 дней.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анализирует Claude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572000" cy="3200400"/>
          </a:xfrm>
          <a:prstGeom prst="rect">
            <a:avLst>
              <a:gd name="adj" fmla="val 428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34640"/>
            <a:ext cx="4572000" cy="1371600"/>
          </a:xfrm>
          <a:prstGeom prst="rect">
            <a:avLst>
              <a:gd name="adj" fmla="val 10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291840"/>
            <a:ext cx="1005840" cy="1005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52044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286000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Claude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2860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· claude-sonnet-4-6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" y="4572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Глубокий семантический анализ. Обрабатывает HTML, скриншоты, отзывы, вакансии — как senior-аналитик.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09753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943600" y="28346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и продуктовая страница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448" y="309753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76208" y="28346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(Keys.so, PageSpeed)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89763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43600" y="36347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Соцсети и контент-стратегия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448" y="389763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76208" y="36347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Вакансии (HH.ru) — как индикатор роста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697730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43600" y="44348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Отзывы (Google, Yandex, 2GIS)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448" y="469773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976208" y="44348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Геолокация и рейтинги на картах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549783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943600" y="52349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Архетип бренда и tone of voice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0448" y="5497830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976208" y="5234940"/>
            <a:ext cx="25754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Возражения и «боли» в ЦА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данные — не галлюцинации AI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 работает на 7 интеграциях с российскими и международными источниками.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7501" y="3383280"/>
            <a:ext cx="731520" cy="73152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93" y="3547872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HH.ru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Вакансии → рост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27609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55030" y="3383280"/>
            <a:ext cx="731520" cy="7315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622" y="354787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319049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DaData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319049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Реквизиты РФ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815138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42559" y="3383280"/>
            <a:ext cx="731520" cy="7315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151" y="354787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06578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PageSpeed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906578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Производительность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402667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730088" y="3383280"/>
            <a:ext cx="731520" cy="73152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3547872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94107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Yandex Maps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494107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Рейтинги · отзывы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990196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17617" y="3383280"/>
            <a:ext cx="731520" cy="7315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209" y="3547872"/>
            <a:ext cx="402336" cy="4023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1636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2GIS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081636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Карты · отзывы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577725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905146" y="3383280"/>
            <a:ext cx="731520" cy="73152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738" y="3547872"/>
            <a:ext cx="402336" cy="40233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669165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Keys.so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669165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· ключи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10165254" y="3017520"/>
            <a:ext cx="1386361" cy="2743200"/>
          </a:xfrm>
          <a:prstGeom prst="rect">
            <a:avLst>
              <a:gd name="adj" fmla="val 7915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492675" y="3383280"/>
            <a:ext cx="731520" cy="73152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7267" y="3547872"/>
            <a:ext cx="402336" cy="40233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256694" y="4297680"/>
            <a:ext cx="120348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Places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10256694" y="4709160"/>
            <a:ext cx="12034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Международные карты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640080" y="6035040"/>
            <a:ext cx="10911535" cy="502920"/>
          </a:xfrm>
          <a:prstGeom prst="rect">
            <a:avLst>
              <a:gd name="adj" fmla="val 14545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6126480"/>
            <a:ext cx="320040" cy="32004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280160" y="603504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Режим мониторинга: автообновление данных каждые 30 дней + Telegram-уведомления о переменах у конкурентов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FACTORY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 стратегии — к готовому контенту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просто рекомендации. Реальные посты, Reels и видео с вашим аватаром.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4572000" cy="3154680"/>
          </a:xfrm>
          <a:prstGeom prst="rect">
            <a:avLst>
              <a:gd name="adj" fmla="val 4348"/>
            </a:avLst>
          </a:prstGeom>
          <a:solidFill>
            <a:srgbClr val="23234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457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54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30+</a:t>
            </a:r>
            <a:endParaRPr lang="en-US" sz="12000" dirty="0"/>
          </a:p>
        </p:txBody>
      </p:sp>
      <p:sp>
        <p:nvSpPr>
          <p:cNvPr id="15" name="Text 13"/>
          <p:cNvSpPr/>
          <p:nvPr/>
        </p:nvSpPr>
        <p:spPr>
          <a:xfrm>
            <a:off x="1005840" y="4892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единиц контента в месяц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Посты, Reels, Stories, SEO-статьи — в вашем tone of voice, на вашей ЦА.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88036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309372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584" y="3194304"/>
            <a:ext cx="301752" cy="30175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55080" y="288036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Посты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610448" y="288036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39048" y="309372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632" y="3194304"/>
            <a:ext cx="301752" cy="301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479128" y="288036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Reels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486400" y="399288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15000" y="420624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4306824"/>
            <a:ext cx="301752" cy="30175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55080" y="399288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Stories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8610448" y="399288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839048" y="420624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632" y="430682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479128" y="399288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HeyGen видео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5486400" y="510540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715000" y="531876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5419344"/>
            <a:ext cx="301752" cy="30175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355080" y="510540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SEO-статьи</a:t>
            </a:r>
            <a:endParaRPr lang="en-US" sz="1500" dirty="0"/>
          </a:p>
        </p:txBody>
      </p:sp>
      <p:sp>
        <p:nvSpPr>
          <p:cNvPr id="37" name="Shape 30"/>
          <p:cNvSpPr/>
          <p:nvPr/>
        </p:nvSpPr>
        <p:spPr>
          <a:xfrm>
            <a:off x="8610448" y="5105400"/>
            <a:ext cx="2941168" cy="929640"/>
          </a:xfrm>
          <a:prstGeom prst="rect">
            <a:avLst>
              <a:gd name="adj" fmla="val 983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839048" y="5318760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632" y="5419344"/>
            <a:ext cx="301752" cy="30175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479128" y="5105400"/>
            <a:ext cx="193532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plan</a:t>
            </a:r>
            <a:endParaRPr lang="en-US" sz="1500" dirty="0"/>
          </a:p>
        </p:txBody>
      </p:sp>
      <p:sp>
        <p:nvSpPr>
          <p:cNvPr id="41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Ранний рост на закрытой бете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Первые месяцы на рынке — и уже кратный рост по всем ключевым метрикам.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577008" cy="1417320"/>
          </a:xfrm>
          <a:prstGeom prst="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432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80360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221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Активных аккаунтов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840480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+38% MoM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18256" y="2743200"/>
            <a:ext cx="2577008" cy="1417320"/>
          </a:xfrm>
          <a:prstGeom prst="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8256" y="2743200"/>
            <a:ext cx="73152" cy="1417320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6856" y="2880360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4 200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646856" y="3520440"/>
            <a:ext cx="221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Анализов компаний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46856" y="3840480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90 дней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6432" y="2743200"/>
            <a:ext cx="2577008" cy="1417320"/>
          </a:xfrm>
          <a:prstGeom prst="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6432" y="2743200"/>
            <a:ext cx="73152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5032" y="2880360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25032" y="3520440"/>
            <a:ext cx="221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Завершают онбординг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5032" y="3840480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воронки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74607" y="2743200"/>
            <a:ext cx="2577008" cy="1417320"/>
          </a:xfrm>
          <a:prstGeom prst="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74607" y="2743200"/>
            <a:ext cx="73152" cy="1417320"/>
          </a:xfrm>
          <a:prstGeom prst="rect">
            <a:avLst/>
          </a:prstGeom>
          <a:solidFill>
            <a:srgbClr val="D946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3207" y="2880360"/>
            <a:ext cx="2211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₽ 1.8M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9203207" y="3520440"/>
            <a:ext cx="221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MRR (целевой)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03207" y="3840480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480560"/>
            <a:ext cx="10911535" cy="1737360"/>
          </a:xfrm>
          <a:prstGeom prst="rect">
            <a:avLst>
              <a:gd name="adj" fmla="val 6316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Рост активных аккаунтов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месяц к месяцу, 2025–2026</a:t>
            </a:r>
            <a:endParaRPr lang="en-US" sz="10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868680" y="5349240"/>
          <a:ext cx="10454335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МОНЕТИЗАЦИЯ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Подписка + партнёрская программа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2926080" cy="3474720"/>
          </a:xfrm>
          <a:prstGeom prst="rect">
            <a:avLst>
              <a:gd name="adj" fmla="val 4688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4 990 </a:t>
            </a:r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₽/мес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60120" y="4434840"/>
            <a:ext cx="2286000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663440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4617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компания + 5 конкурентов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02920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4440" y="498348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ЦА + СММ-стратегия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39496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53492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постов в месяц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76072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57150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Экспорт PDF/PPTX</a:t>
            </a:r>
            <a:endParaRPr lang="en-US" sz="11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12648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6080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 раз в 30 дней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794760" y="2743200"/>
            <a:ext cx="2926080" cy="3474720"/>
          </a:xfrm>
          <a:prstGeom prst="rect">
            <a:avLst>
              <a:gd name="adj" fmla="val 4688"/>
            </a:avLst>
          </a:prstGeom>
          <a:solidFill>
            <a:srgbClr val="23234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794760" y="2743200"/>
            <a:ext cx="29260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394960" y="2971800"/>
            <a:ext cx="1005840" cy="320040"/>
          </a:xfrm>
          <a:prstGeom prst="roundRect">
            <a:avLst>
              <a:gd name="adj" fmla="val 48571"/>
            </a:avLst>
          </a:prstGeom>
          <a:solidFill>
            <a:srgbClr val="22D3EE">
              <a:alpha val="25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394960" y="2971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ПОПУЛЯРНЫЙ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11480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11480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9 990 </a:t>
            </a:r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₽/мес</a:t>
            </a:r>
            <a:endParaRPr lang="en-US" sz="4800" dirty="0"/>
          </a:p>
        </p:txBody>
      </p:sp>
      <p:sp>
        <p:nvSpPr>
          <p:cNvPr id="31" name="Shape 24"/>
          <p:cNvSpPr/>
          <p:nvPr/>
        </p:nvSpPr>
        <p:spPr>
          <a:xfrm>
            <a:off x="4114800" y="4434840"/>
            <a:ext cx="2286000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65429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389120" y="4617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компаний + 50 конкурентов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974336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389120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 с HeyGen-аватаром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5294376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38912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Неограниченный контент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0" y="5614416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389120" y="5577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SEO-статьи + лендинги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5934456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389120" y="5897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 еженедельно</a:t>
            </a:r>
            <a:endParaRPr lang="en-US" sz="11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0" y="6254496"/>
            <a:ext cx="201168" cy="20116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4389120" y="6217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Telegram-уведомления</a:t>
            </a:r>
            <a:endParaRPr lang="en-US" sz="11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0" y="6574536"/>
            <a:ext cx="201168" cy="20116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4389120" y="6537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Приоритет поддержка 24/7</a:t>
            </a:r>
            <a:endParaRPr lang="en-US" sz="1100" dirty="0"/>
          </a:p>
        </p:txBody>
      </p:sp>
      <p:sp>
        <p:nvSpPr>
          <p:cNvPr id="46" name="Shape 32"/>
          <p:cNvSpPr/>
          <p:nvPr/>
        </p:nvSpPr>
        <p:spPr>
          <a:xfrm>
            <a:off x="6949440" y="2743200"/>
            <a:ext cx="4602175" cy="3474720"/>
          </a:xfrm>
          <a:prstGeom prst="rect">
            <a:avLst>
              <a:gd name="adj" fmla="val 3947"/>
            </a:avLst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480" y="3063240"/>
            <a:ext cx="411480" cy="41148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7818120" y="309067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ПАРТНЁРСКАЯ ПРОГРАММА</a:t>
            </a:r>
            <a:endParaRPr lang="en-US" sz="1100" dirty="0"/>
          </a:p>
        </p:txBody>
      </p:sp>
      <p:sp>
        <p:nvSpPr>
          <p:cNvPr id="49" name="Text 34"/>
          <p:cNvSpPr/>
          <p:nvPr/>
        </p:nvSpPr>
        <p:spPr>
          <a:xfrm>
            <a:off x="7269480" y="370332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Реферал</a:t>
            </a:r>
            <a:endParaRPr lang="en-US" sz="1400" dirty="0"/>
          </a:p>
        </p:txBody>
      </p:sp>
      <p:sp>
        <p:nvSpPr>
          <p:cNvPr id="50" name="Text 35"/>
          <p:cNvSpPr/>
          <p:nvPr/>
        </p:nvSpPr>
        <p:spPr>
          <a:xfrm>
            <a:off x="7269480" y="4023360"/>
            <a:ext cx="3962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</a:t>
            </a:r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платежей</a:t>
            </a:r>
            <a:endParaRPr lang="en-US" sz="3200" dirty="0"/>
          </a:p>
        </p:txBody>
      </p:sp>
      <p:sp>
        <p:nvSpPr>
          <p:cNvPr id="51" name="Text 36"/>
          <p:cNvSpPr/>
          <p:nvPr/>
        </p:nvSpPr>
        <p:spPr>
          <a:xfrm>
            <a:off x="7269480" y="461772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+ 10% скидка клиенту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7269480" y="5074920"/>
            <a:ext cx="39620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7269480" y="521208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Интегратор</a:t>
            </a:r>
            <a:endParaRPr lang="en-US" sz="1400" dirty="0"/>
          </a:p>
        </p:txBody>
      </p:sp>
      <p:sp>
        <p:nvSpPr>
          <p:cNvPr id="54" name="Text 39"/>
          <p:cNvSpPr/>
          <p:nvPr/>
        </p:nvSpPr>
        <p:spPr>
          <a:xfrm>
            <a:off x="7269480" y="5532120"/>
            <a:ext cx="3962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 50% </a:t>
            </a:r>
            <a:pPr indent="0" marL="0">
              <a:buNone/>
            </a:pPr>
            <a:r>
              <a:rPr lang="en-US" sz="1300" dirty="0">
                <a:solidFill>
                  <a:srgbClr val="B8B8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комиссия</a:t>
            </a:r>
            <a:endParaRPr lang="en-US" sz="3200" dirty="0"/>
          </a:p>
        </p:txBody>
      </p:sp>
      <p:sp>
        <p:nvSpPr>
          <p:cNvPr id="55" name="Text 40"/>
          <p:cNvSpPr/>
          <p:nvPr/>
        </p:nvSpPr>
        <p:spPr>
          <a:xfrm>
            <a:off x="7269480" y="61264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Шкала 25 → 30 → 40 → 50%</a:t>
            </a:r>
            <a:endParaRPr lang="en-US" sz="1100" dirty="0"/>
          </a:p>
        </p:txBody>
      </p:sp>
      <p:sp>
        <p:nvSpPr>
          <p:cNvPr id="56" name="Shape 4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57" name="Text 4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58" name="Text 4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685800"/>
            <a:ext cx="320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Современный стек. Российская инфраструктура.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16 + React 19. Proxy через Cloudflare Workers — обход гео-блоков без VPN для пользователей.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2556434" cy="3383280"/>
          </a:xfrm>
          <a:prstGeom prst="rect">
            <a:avLst>
              <a:gd name="adj" fmla="val 429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34640"/>
            <a:ext cx="2556434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08960"/>
            <a:ext cx="2007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Фронтенд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36576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41648"/>
            <a:ext cx="109728" cy="109728"/>
          </a:xfrm>
          <a:prstGeom prst="ellipse">
            <a:avLst/>
          </a:prstGeom>
          <a:solidFill>
            <a:srgbClr val="22D3EE">
              <a:alpha val="4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9319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16.2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498848"/>
            <a:ext cx="109728" cy="109728"/>
          </a:xfrm>
          <a:prstGeom prst="ellipse">
            <a:avLst/>
          </a:prstGeom>
          <a:solidFill>
            <a:srgbClr val="22D3EE">
              <a:alpha val="4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3891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956048"/>
            <a:ext cx="109728" cy="109728"/>
          </a:xfrm>
          <a:prstGeom prst="ellipse">
            <a:avLst/>
          </a:prstGeom>
          <a:solidFill>
            <a:srgbClr val="22D3EE">
              <a:alpha val="4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8463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Router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5413248"/>
            <a:ext cx="109728" cy="109728"/>
          </a:xfrm>
          <a:prstGeom prst="ellipse">
            <a:avLst/>
          </a:prstGeom>
          <a:solidFill>
            <a:srgbClr val="22D3EE">
              <a:alpha val="4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3035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5114" y="2834640"/>
            <a:ext cx="2556434" cy="3383280"/>
          </a:xfrm>
          <a:prstGeom prst="rect">
            <a:avLst>
              <a:gd name="adj" fmla="val 429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5114" y="2834640"/>
            <a:ext cx="255643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9434" y="3108960"/>
            <a:ext cx="2007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&amp; ML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99434" y="3611880"/>
            <a:ext cx="36576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9434" y="4041648"/>
            <a:ext cx="109728" cy="109728"/>
          </a:xfrm>
          <a:prstGeom prst="ellipse">
            <a:avLst/>
          </a:prstGeom>
          <a:solidFill>
            <a:srgbClr val="7C3AED">
              <a:alpha val="4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28034" y="39319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Sonnet 4.6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99434" y="4498848"/>
            <a:ext cx="109728" cy="109728"/>
          </a:xfrm>
          <a:prstGeom prst="ellipse">
            <a:avLst/>
          </a:prstGeom>
          <a:solidFill>
            <a:srgbClr val="7C3AED">
              <a:alpha val="4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28034" y="43891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GPT-4o (Vision)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99434" y="4956048"/>
            <a:ext cx="109728" cy="109728"/>
          </a:xfrm>
          <a:prstGeom prst="ellipse">
            <a:avLst/>
          </a:prstGeom>
          <a:solidFill>
            <a:srgbClr val="7C3AED">
              <a:alpha val="4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28034" y="48463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(опц.)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99434" y="5413248"/>
            <a:ext cx="109728" cy="109728"/>
          </a:xfrm>
          <a:prstGeom prst="ellipse">
            <a:avLst/>
          </a:prstGeom>
          <a:solidFill>
            <a:srgbClr val="7C3AED">
              <a:alpha val="40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28034" y="53035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HeyGen API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0148" y="2834640"/>
            <a:ext cx="2556434" cy="3383280"/>
          </a:xfrm>
          <a:prstGeom prst="rect">
            <a:avLst>
              <a:gd name="adj" fmla="val 429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0148" y="2834640"/>
            <a:ext cx="2556434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4468" y="3108960"/>
            <a:ext cx="2007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484468" y="3611880"/>
            <a:ext cx="36576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84468" y="4041648"/>
            <a:ext cx="109728" cy="109728"/>
          </a:xfrm>
          <a:prstGeom prst="ellipse">
            <a:avLst/>
          </a:prstGeom>
          <a:solidFill>
            <a:srgbClr val="6366F1">
              <a:alpha val="4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3068" y="39319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84468" y="4498848"/>
            <a:ext cx="109728" cy="109728"/>
          </a:xfrm>
          <a:prstGeom prst="ellipse">
            <a:avLst/>
          </a:prstGeom>
          <a:solidFill>
            <a:srgbClr val="6366F1">
              <a:alpha val="4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3068" y="43891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HH.ru API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84468" y="4956048"/>
            <a:ext cx="109728" cy="109728"/>
          </a:xfrm>
          <a:prstGeom prst="ellipse">
            <a:avLst/>
          </a:prstGeom>
          <a:solidFill>
            <a:srgbClr val="6366F1">
              <a:alpha val="4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13068" y="48463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DaData API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84468" y="5413248"/>
            <a:ext cx="109728" cy="109728"/>
          </a:xfrm>
          <a:prstGeom prst="ellipse">
            <a:avLst/>
          </a:prstGeom>
          <a:solidFill>
            <a:srgbClr val="6366F1">
              <a:alpha val="40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13068" y="53035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Keys.so API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995181" y="2834640"/>
            <a:ext cx="2556434" cy="3383280"/>
          </a:xfrm>
          <a:prstGeom prst="rect">
            <a:avLst>
              <a:gd name="adj" fmla="val 4292"/>
            </a:avLst>
          </a:prstGeom>
          <a:solidFill>
            <a:srgbClr val="1A1A2E"/>
          </a:solidFill>
          <a:ln w="12700">
            <a:solidFill>
              <a:srgbClr val="2A2A4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95181" y="2834640"/>
            <a:ext cx="2556434" cy="64008"/>
          </a:xfrm>
          <a:prstGeom prst="rect">
            <a:avLst/>
          </a:prstGeom>
          <a:solidFill>
            <a:srgbClr val="D946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69501" y="3108960"/>
            <a:ext cx="2007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Инфраструктура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269501" y="3611880"/>
            <a:ext cx="365760" cy="36576"/>
          </a:xfrm>
          <a:prstGeom prst="rect">
            <a:avLst/>
          </a:prstGeom>
          <a:solidFill>
            <a:srgbClr val="D946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69501" y="4041648"/>
            <a:ext cx="109728" cy="109728"/>
          </a:xfrm>
          <a:prstGeom prst="ellipse">
            <a:avLst/>
          </a:prstGeom>
          <a:solidFill>
            <a:srgbClr val="D946EF">
              <a:alpha val="40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98101" y="39319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Moscow VPS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269501" y="4498848"/>
            <a:ext cx="109728" cy="109728"/>
          </a:xfrm>
          <a:prstGeom prst="ellipse">
            <a:avLst/>
          </a:prstGeom>
          <a:solidFill>
            <a:srgbClr val="D946EF">
              <a:alpha val="40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98101" y="43891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PM2 + Node.js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69501" y="4956048"/>
            <a:ext cx="109728" cy="109728"/>
          </a:xfrm>
          <a:prstGeom prst="ellipse">
            <a:avLst/>
          </a:prstGeom>
          <a:solidFill>
            <a:srgbClr val="D946EF">
              <a:alpha val="40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98101" y="48463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Workers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269501" y="5413248"/>
            <a:ext cx="109728" cy="109728"/>
          </a:xfrm>
          <a:prstGeom prst="ellipse">
            <a:avLst/>
          </a:prstGeom>
          <a:solidFill>
            <a:srgbClr val="D946EF">
              <a:alpha val="40000"/>
            </a:srgbClr>
          </a:solidFill>
          <a:ln w="9525">
            <a:solidFill>
              <a:srgbClr val="D946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98101" y="5303520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 Bot API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marketradar.ru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095" y="32004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48495" y="-1828800"/>
            <a:ext cx="3657600" cy="3657600"/>
          </a:xfrm>
          <a:prstGeom prst="ellipse">
            <a:avLst/>
          </a:prstGeom>
          <a:solidFill>
            <a:srgbClr val="22D3EE">
              <a:alpha val="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38248" y="-228600"/>
            <a:ext cx="7315200" cy="7315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9848" y="11430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02920"/>
            <a:ext cx="384048" cy="384048"/>
          </a:xfrm>
          <a:prstGeom prst="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02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2728" y="2103120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9888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 ПОПРОБОВАТЬ?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Попробуйте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0" b="1" i="1" dirty="0">
                <a:solidFill>
                  <a:srgbClr val="22D3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бесплатно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дней полного доступа · без карты · без звонков менеджера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32808" y="525780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5400000">
              <a:srgbClr val="7C3AED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32808" y="5257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marketradar.ru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248" y="54635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hello@marketradar.ru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94015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8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@marketradar_bot · Telegram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6400800"/>
            <a:ext cx="11277295" cy="0"/>
          </a:xfrm>
          <a:prstGeom prst="line">
            <a:avLst/>
          </a:prstGeom>
          <a:noFill/>
          <a:ln w="9525">
            <a:solidFill>
              <a:srgbClr val="2A2A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MarketRadar · Все права защищены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MarketRadar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MarketRadar — Pitch Deck</dc:title>
  <dc:subject>PptxGenJS Presentation</dc:subject>
  <dc:creator>MarketRadar</dc:creator>
  <cp:lastModifiedBy>MarketRadar</cp:lastModifiedBy>
  <cp:revision>1</cp:revision>
  <dcterms:created xsi:type="dcterms:W3CDTF">2026-04-22T08:32:15Z</dcterms:created>
  <dcterms:modified xsi:type="dcterms:W3CDTF">2026-04-22T08:32:15Z</dcterms:modified>
</cp:coreProperties>
</file>